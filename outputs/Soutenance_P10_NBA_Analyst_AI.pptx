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2011680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926080"/>
            <a:ext cx="64008" cy="201168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971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NBA Analyst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DD7EE"/>
                </a:solidFill>
              </a:rPr>
              <a:t>Système hybride RAG + SQL pour l'analyse de statistiques NBA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4663440"/>
            <a:ext cx="4114800" cy="54864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Soutenance P10 — Data Science &amp; Machine Learning  |  26 mars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9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ACC"/>
                </a:solidFill>
              </a:rPr>
              <a:t>Mistral AI  ·  FAISS  ·  SQLite  ·  Pydantic  ·  Logfire  · 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86400" cy="5074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PARTIE 1 — Présentation des livrables  (15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1.  Architecture globale &amp; sources de données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2.  Pipeline RAG  —  FAISS + Mistral Embed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3.  Pipeline SQL  —  Text-to-SQL few-shot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4.  Agent hybride  —  Routeur LLM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5.  Interfaces  —  Streamlit + API REST FastAPI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6.  Évaluation RAGAS  —  Pydantic + Logfire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7.  Résultats &amp; comparatif AVANT / APRÈS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8.  Structure du repo Git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577840" cy="5074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577840" cy="4572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704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PARTIE 2 — Discussion avec Sarah  (10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Sarah challengera sur :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Interprétation métier des scores RAGAS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— Que signifient ces chiffres en pratique ?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Robustesse &amp; limites du système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— Sensibilité à un changement de corpus ?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Justification des choix techniques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— Pourquoi FAISS ? Pourquoi ces métriques ?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Monitoring dans le temps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— Intégration dans les rituels d'équipe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Pourquoi ce projet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097280"/>
          </a:xfrm>
          <a:prstGeom prst="rect">
            <a:avLst/>
          </a:prstGeom>
          <a:solidFill>
            <a:srgbClr val="FE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73152" cy="109728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612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0A"/>
                </a:solidFill>
              </a:rPr>
              <a:t>Problème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Les données NBA sont dispersées : fichiers Excel complexes (569 joueurs, 39 colonnes),
discussions PDF issues de Reddit — impossible à interroger en langage naturel.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23160"/>
            <a:ext cx="11521440" cy="109728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23160"/>
            <a:ext cx="73152" cy="10972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Un assistant IA hybride capable de répondre en langage naturel à toute question NBA :
questions chiffrées traitées via SQL exact, questions qualitatives via recherche sémantique.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03320"/>
            <a:ext cx="11521440" cy="24231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3 types de questions gérés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35661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35661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245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Chiffrées / Statistiques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« Qui a le plus de points cette saison ?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30368"/>
            <a:ext cx="137160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248655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 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4206240"/>
            <a:ext cx="35661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4206240"/>
            <a:ext cx="3566160" cy="347472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7" y="42245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Qualitatives / 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4663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« C'est quoi le Net Rating ? 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7" y="5230368"/>
            <a:ext cx="1371600" cy="32004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7" y="5248655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 RAG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4206240"/>
            <a:ext cx="35661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74736" y="4206240"/>
            <a:ext cx="3566160" cy="347472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5" y="42245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Bruitées (fautes)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5" y="4663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« kel joueur a le + de passes ? 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175" y="5230368"/>
            <a:ext cx="1371600" cy="32004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5248655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 RAG (fallback)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globale du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46888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regular NBA.xlsx
569 joueurs · 30 équipes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188720"/>
            <a:ext cx="246888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0700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Reddit 1–4.pdf
Discussions playoffs NBA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965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2468880" cy="6858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5000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6B"/>
                </a:solidFill>
              </a:rPr>
              <a:t>load_excel_to_db.py
Pydantic → SQLite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331720"/>
            <a:ext cx="2468880" cy="6858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35000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6B"/>
                </a:solidFill>
              </a:rPr>
              <a:t>indexer.py
Chunking + Mistral 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37560"/>
            <a:ext cx="2468880" cy="685800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5584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SQLite
569 joueurs · 3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337560"/>
            <a:ext cx="2468880" cy="685800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335584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FAISS Index
302 vecteurs (1024 dim)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6118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468880"/>
            <a:ext cx="30175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487168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Routeur LLM
(Mistral — max_tokens=5)
SQL  ou  RAG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0632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4343400"/>
            <a:ext cx="1325880" cy="6858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4361688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Pipeline
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4343400"/>
            <a:ext cx="1554480" cy="6858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4361688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</a:rPr>
              <a:t>Pipeline
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029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5349240"/>
            <a:ext cx="3017520" cy="59436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36752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Mistral — Synthèse réponse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943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A0A"/>
                </a:solidFill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6080760"/>
            <a:ext cx="1371600" cy="4572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609904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Streamlit :8501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6080760"/>
            <a:ext cx="1463040" cy="4572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60990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FastAPI :8000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1188720"/>
            <a:ext cx="2743200" cy="5120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35440" y="1188720"/>
            <a:ext cx="2743200" cy="365760"/>
          </a:xfrm>
          <a:prstGeom prst="rect">
            <a:avLst/>
          </a:prstGeom>
          <a:solidFill>
            <a:srgbClr val="6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1197864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Évaluation RAGAS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1600200"/>
            <a:ext cx="2514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</a:rPr>
              <a:t>evaluate_ragas.py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26 questions test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SIMPLE / COMPLEXE / BRUITÉ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E75B6"/>
                </a:solidFill>
              </a:rPr>
              <a:t>Pydantic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Validation des flux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E75B6"/>
                </a:solidFill>
              </a:rPr>
              <a:t>Pydantic AI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Agent structuré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E75B6"/>
                </a:solidFill>
              </a:rPr>
              <a:t>Logfire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Traces temps réel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E75B6"/>
                </a:solidFill>
              </a:rPr>
              <a:t>RAGAS Metrics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faithfulness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context_recall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context_precision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Sources de données &amp;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Excel → SQLite  |  PDFs → FAISS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5212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6692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61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regular NBA.xlsx  → 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Contenu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569 joueurs  ·  30 équipes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39 colonnes : PTS, REB, AST, FG%, 3P%, NETRTG…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Statistiques totales de saison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Validation Pydantic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TeamRow — code équipe, nom, conférence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PlayerRow — nom, âge, équipe, matchs joués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PlayerStatsRow — 30 stats, validateur 0–100 pour %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Particularité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Colonne '3P%' lue comme datetime.time(15,0)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par Excel → résolu via .get("3P%")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Résultat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3 tables SQLite : teams · players · player_stats</a:t>
            </a:r>
          </a:p>
          <a:p>
            <a:pPr algn="l"/>
            <a:r>
              <a:rPr sz="1200" b="0">
                <a:solidFill>
                  <a:srgbClr val="1E8B4C"/>
                </a:solidFill>
              </a:rPr>
              <a:t>•  569 lignes insérées · 0 erreur de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577840" cy="5212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577840" cy="41148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1612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Reddit 1–4.pdf  →  FAISS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Contenu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4 PDFs — discussions et analyses playoffs NBA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Avis, débats, contexte qualitatif des joueurs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Pipeline d'indexation (indexer.py)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Chargement PDF (PyMuPDF / OCR)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Découpage : RecursiveCharacterTextSplitter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chunk_size = 1 500 caractères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chunk_overlap = 150 caractères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Embedding : mistral-embed (1 024 dimensions)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Index : FAISS IndexFlatIP (produit scalaire)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→ équivalent cosinus sur vecteurs normalisés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Recherche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Question → embedding → top-K voisins (k=5)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Résultats triés par score de similarité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Résultat :</a:t>
            </a:r>
          </a:p>
          <a:p>
            <a:pPr algn="l"/>
            <a:r>
              <a:rPr sz="1200" b="0">
                <a:solidFill>
                  <a:srgbClr val="1E8B4C"/>
                </a:solidFill>
              </a:rPr>
              <a:t>•  302 vecteurs indexés · prêt en &lt; 30 secondes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Pipeline RAG — Recherche sémantique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FAISS (IndexFlatIP) + Mistral Embed + Mistral Generate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691640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002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Question
utilisateur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9164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1408" y="1188720"/>
            <a:ext cx="169164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7128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16002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Embedding
(mistral-embed
1024 dim)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169164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2776" y="1188720"/>
            <a:ext cx="169164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8496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5" y="16002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Recherche
cosinus FAISS
(top-5 chunks)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169164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24144" y="1188720"/>
            <a:ext cx="1691640" cy="13716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5583" y="16002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Construction
du contexte
textuel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169164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25512" y="1188720"/>
            <a:ext cx="1691640" cy="137160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16002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Génération
Mistral
(RAG_PROMPT)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169164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188720"/>
            <a:ext cx="169164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6002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Réponse
en langage
naturel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88920"/>
            <a:ext cx="7772400" cy="35204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2788920"/>
            <a:ext cx="777240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80720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Détails techniques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246120"/>
            <a:ext cx="74980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Paramètres clés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chunk_size = 1 500 chars  ·  overlap = 150 chars  ·  k = 5 chunks retournés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Vecteurs normalisés L2 → produit scalaire = similarité cosinus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Prompt RAG : « Réponds UNIQUEMENT à partir du contexte fourni »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E8B4C"/>
                </a:solidFill>
              </a:rPr>
              <a:t>Point fort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Retrouve les analyses qualitatives Reddit : styles de jeu, débats, contexte historique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E86A0A"/>
                </a:solidFill>
              </a:rPr>
              <a:t>Limite identifiée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FAISS ne peut pas calculer « top 5 scoreurs » — les stats agrégées ne sont pas dans les chunks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Solution → Pipeline SQL pour toutes les questions chiffrées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788920"/>
            <a:ext cx="3566160" cy="3520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2788920"/>
            <a:ext cx="356616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807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RAG_PROMPT (extrait)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24612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DDFF"/>
                </a:solidFill>
              </a:rPr>
              <a:t>Tu es NBA Analyst AI.
Réponds à partir du
CONTEXTE UNIQUEMENT.
CONTEXTE :
{context}
QUESTION : {question}
RÉPONSE 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Pipeline SQL — Text-to-SQL avec few-shot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Mistral génère le SQL · SQLite exécute · Mistral synthétise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011680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Question
utilisateur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6916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188720"/>
            <a:ext cx="201168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Schéma BD +
8 exemples
few-shot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188720"/>
            <a:ext cx="2011680" cy="13716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Mistral génère
la requête SQL
(temp=0)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6916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188720"/>
            <a:ext cx="2011680" cy="137160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Exécution
SQLite
(sqlite3)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6916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188720"/>
            <a:ext cx="201168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Synthèse
Mistral
(SQL_PROMPT)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788920"/>
            <a:ext cx="5669280" cy="35204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788920"/>
            <a:ext cx="566928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8072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8 patterns few-shot couverts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461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 Top-N joueurs par une statistique  (ORDER BY … LIMIT N)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Filtre minimum matchs joués  (WHERE gp &gt;= X)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Meilleure efficacité avec contrainte  (WHERE three_pa &gt;= 100)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Moyenne d'équipe  (GROUP BY team_code)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Comparaison multi-colonnes  (ORDER BY pts DESC, reb DESC)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Joueurs sous contrat &gt; X matchs et stat &gt; seuil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Jointure players + player_stats + teams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Question bruitée → SQL identique au pattern proche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788920"/>
            <a:ext cx="5577840" cy="3520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788920"/>
            <a:ext cx="55778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8072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Schéma SQLite (DB_SCHEMA)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246120"/>
            <a:ext cx="53492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DFF"/>
                </a:solidFill>
              </a:rPr>
              <a:t>teams      :  team_id, team_code, name, conf
players    :  player_id, name, team_code, age, gp
player_stats: player_id,
              pts, reb, ast, stl, blk, tov,
              fg_pct, three_pct, ft_pct,
              offrtg, defrtg, netrtg,
              usg_pct, ts_pct, efg_pct …
              (30 colonnes documentées)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Agent hybride — Routeur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Le cerveau du système : SQL ou RAG en moins de 1 seconde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011680"/>
            <a:ext cx="3931920" cy="1920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202996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ROUTEUR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5603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DD7EE"/>
                </a:solidFill>
              </a:rPr>
              <a:t>ROUTING_PROMPT
max_tokens=5  ·  temperature=0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200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6A0A"/>
                </a:solidFill>
              </a:rPr>
              <a:t>Retourne : SQL  ou 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8892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060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</a:rPr>
              <a:t>← 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0175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77E89"/>
                </a:solidFill>
              </a:rPr>
              <a:t>←  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3108960" cy="3749039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371600"/>
            <a:ext cx="310896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3898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  — Questions chiffrées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874519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Quand choisir SQL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Classements et top-N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Chiffres précis (points, % tir)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Comparaisons statistiques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Filtres (min X matchs)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Moyennes par équipe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1B3A6B"/>
                </a:solidFill>
              </a:rPr>
              <a:t>Exemples :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« Qui a le plus de points ? »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« Top 5 rebondeurs min 50 matchs »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« Moyenne 3P% par équipe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371600"/>
            <a:ext cx="3108960" cy="3749039"/>
          </a:xfrm>
          <a:prstGeom prst="rect">
            <a:avLst/>
          </a:prstGeom>
          <a:solidFill>
            <a:srgbClr val="E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0" y="1371600"/>
            <a:ext cx="3108960" cy="41148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3898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RAG  — Questions qualitatives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874519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Quand choisir RAG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Définitions (NETRTG, USG% ?)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Analyses de style de jeu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Opinions et débats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Contexte historique NBA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Fallback si routeur échoue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1B3A6B"/>
                </a:solidFill>
              </a:rPr>
              <a:t>Exemples :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« C'est quoi le Net Rating ? »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« Quel est le style de Wembanyama ? »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« ki a le + de point seson? 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03520"/>
            <a:ext cx="11612880" cy="868680"/>
          </a:xfrm>
          <a:prstGeom prst="rect">
            <a:avLst/>
          </a:prstGeom>
          <a:solidFill>
            <a:srgbClr val="FE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303520"/>
            <a:ext cx="73152" cy="86868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218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0A"/>
                </a:solidFill>
              </a:rPr>
              <a:t>Robustesse aux questions bruitées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87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« kel joueur a le + de passes ? »  →  SQL ✓     « ki gagne le titre ? »  →  RAG ✓     Le routeur fonctionne malgré les fautes d'orthographe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Interfaces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Streamlit (chat visuel)  +  API REST FastAPI (5 endpoints)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5212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669280" cy="41148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61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Streamlit  —  MistralChat.py  (port 8501)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Fonctionnalités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Interface chat visuelle et interactive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Historique de conversation maintenu en session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Indicateur de source visible :</a:t>
            </a:r>
          </a:p>
          <a:p>
            <a:pPr algn="l"/>
            <a:r>
              <a:rPr sz="1100" b="0">
                <a:solidFill>
                  <a:srgbClr val="2E75B6"/>
                </a:solidFill>
              </a:rPr>
              <a:t>   Source : Base de données SQL</a:t>
            </a:r>
          </a:p>
          <a:p>
            <a:pPr algn="l"/>
            <a:r>
              <a:rPr sz="1100" b="0">
                <a:solidFill>
                  <a:srgbClr val="177E89"/>
                </a:solidFill>
              </a:rPr>
              <a:t>   Source : Base de connaissances (RAG)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Expander « Voir les données brutes SQL »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Expander « Voir les N documents sources »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Flux de traitement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1.  classifier_question(prompt) → SQL/RAG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2a. SQL : query_nba_database(prompt) + synthèse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2b. RAG : vector_store.search(prompt, k=5) + génération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3.  Affichage réponse + badges source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Lancement :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streamlit run MistralChat.py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577840" cy="5212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57784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1612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API REST FastAPI  —  api.py  (port 8000)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5 endpoints documentés 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103120"/>
            <a:ext cx="53492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39696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GET  /health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39696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État FAISS + SQL + modèle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670048"/>
            <a:ext cx="53492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706624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GET  /stats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706624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Statistiques base de données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236976"/>
            <a:ext cx="5349240" cy="50292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73552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POST /query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73552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Routage automatique SQL/RAG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803904"/>
            <a:ext cx="53492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40480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POST /query/rag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40480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Force le mode RAG (FAISS)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4370831"/>
            <a:ext cx="53492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407407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POST /query/sql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407407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Force le mode SQL (Text-to-SQL)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937760"/>
            <a:ext cx="5349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Fonctionnalités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Swagger UI interactif sur /docs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Ressources chargées une seule fois (lifespan)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Validation Pydantic sur toutes les requêtes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Gestion d'erreurs HTTP (503, 500)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Lancement :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uvicorn api:app --reload --port 8000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Théorie RAGAS — Comment évaluer un système RAG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RAGAS = Retrieval-Augmented Generation Assessment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685800"/>
          </a:xfrm>
          <a:prstGeom prst="rect">
            <a:avLst/>
          </a:prstGeom>
          <a:solidFill>
            <a:srgbClr val="F0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" cy="685800"/>
          </a:xfrm>
          <a:prstGeom prst="rect">
            <a:avLst/>
          </a:prstGeom>
          <a:solidFill>
            <a:srgbClr val="6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Principe : LLM-as-a-Judge — un LLM évalue un autre LLM. RAGAS utilise Mistral comme juge pour scorer objectivement les réponses du système.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3749039" cy="42062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965960"/>
            <a:ext cx="3749039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842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faithfulness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42032"/>
            <a:ext cx="2834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2743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</a:rPr>
              <a:t>Anti-hallucination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971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« Chaque affirmation de la réponse est-elle
ancrée dans le contexte fourni ?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749039"/>
            <a:ext cx="34747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8620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B4C"/>
                </a:solidFill>
              </a:rPr>
              <a:t>Score = 1.0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Aucune hallucination</a:t>
            </a:r>
          </a:p>
          <a:p>
            <a:pPr algn="l"/>
            <a:r>
              <a:rPr sz="1300" b="1">
                <a:solidFill>
                  <a:srgbClr val="C0392B"/>
                </a:solidFill>
              </a:rPr>
              <a:t>Score = 0.0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Réponse inventée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B3A6B"/>
                </a:solidFill>
              </a:rPr>
              <a:t>→ Priorité absolue en prod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965960"/>
            <a:ext cx="3749039" cy="42062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965960"/>
            <a:ext cx="3749039" cy="4572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399" y="19842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context_recall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2542032"/>
            <a:ext cx="2834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2560320"/>
            <a:ext cx="2743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7E89"/>
                </a:solidFill>
              </a:rPr>
              <a:t>Qualité du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971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« Les documents récupérés couvrent-ils
toutes les informations du ground_truth ? 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749039"/>
            <a:ext cx="3474720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88620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B4C"/>
                </a:solidFill>
              </a:rPr>
              <a:t>Score = 1.0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Retrieval complet</a:t>
            </a:r>
          </a:p>
          <a:p>
            <a:pPr algn="l"/>
            <a:r>
              <a:rPr sz="1300" b="1">
                <a:solidFill>
                  <a:srgbClr val="C0392B"/>
                </a:solidFill>
              </a:rPr>
              <a:t>Score = 0.0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Rien trouvé d'utile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B3A6B"/>
                </a:solidFill>
              </a:rPr>
              <a:t>→ Mesure FAISS vs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965960"/>
            <a:ext cx="3749039" cy="42062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965960"/>
            <a:ext cx="3749039" cy="45720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842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context_precision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542032"/>
            <a:ext cx="2834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2560320"/>
            <a:ext cx="2743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6A0A"/>
                </a:solidFill>
              </a:rPr>
              <a:t>Pertinence du retrieval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971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« Parmi les K documents retournés,
combien sont vraiment utiles ? 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749039"/>
            <a:ext cx="3474720" cy="54864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88620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B4C"/>
                </a:solidFill>
              </a:rPr>
              <a:t>Score = 1.0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0 document inutile</a:t>
            </a:r>
          </a:p>
          <a:p>
            <a:pPr algn="l"/>
            <a:r>
              <a:rPr sz="1300" b="1">
                <a:solidFill>
                  <a:srgbClr val="C0392B"/>
                </a:solidFill>
              </a:rPr>
              <a:t>Score = 0.0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Que du bruit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B3A6B"/>
                </a:solidFill>
              </a:rPr>
              <a:t>→ Mesure la qualité du top-K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624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3A6B"/>
                </a:solidFill>
              </a:rPr>
              <a:t>Format dataset RAGAS :  user_input  |  retrieved_contexts  |  response  |  reference  (ground_truth)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d'évaluation — Pydantic + Pydantic AI + Logfire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3 couches pour garantir robustesse, structure et observabilité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12880" cy="1600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09728" cy="1600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COUCHE 1 — Pydantic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2618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07070"/>
                </a:solidFill>
              </a:rPr>
              <a:t>Validation &amp; intégrité des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QuestionInput  : valide category ∈ {SIMPLE, COMPLEXE, BRUITÉ}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             + question non vide, ground_truth présent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RAGResult      : nettoie les contextes vides/None avant scoring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EvaluationRow  : structure les résultats RAGAS en JSON exportable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→ Garantit qu'aucune donnée invalide n'entre dans l'évaluation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11612880" cy="1600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109728" cy="16002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7E89"/>
                </a:solidFill>
              </a:rPr>
              <a:t>COUCHE 2 — Pydantic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9923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07070"/>
                </a:solidFill>
              </a:rPr>
              <a:t>Agent LLM avec sortie structurée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NBAAnswer(BaseModel) : fields  answer: str,  reasoning: str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nba_agent = Agent(model=MODEL_NAME, output_type=NBAAnswer)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result = nba_agent.run_sync(prompt)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→ result.output.answer  (toujours valide, jamais None)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→ Empêche les réponses mal formées d'entrer dans RAGAS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1612880" cy="1600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663440"/>
            <a:ext cx="109728" cy="1600200"/>
          </a:xfrm>
          <a:prstGeom prst="rect">
            <a:avLst/>
          </a:prstGeom>
          <a:solidFill>
            <a:srgbClr val="6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091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3090"/>
                </a:solidFill>
              </a:rPr>
              <a:t>COUCHE 3 — Logfire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3659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07070"/>
                </a:solidFill>
              </a:rPr>
              <a:t>Observabilité et traçabilité temps réel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logfire.configure(token=LOGFIRE_TOKEN)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logfire.instrument_pydantic_ai()  →  trace tous les agents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with logfire.span('run_rag', question=q): ...  →  durée + I/O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Dashboard web : latences, erreurs, flux pas-à-pas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→ Visibilité complète sur chaque appel LLM et chaque recherche FAISS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Résultats Baseline — RAG seul (FAISS uniquement)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26 questions test : SIMPLE (10) · COMPLEXE (10) · BRUITÉ (6)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9260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710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Métrique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34440"/>
            <a:ext cx="18288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2710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34440"/>
            <a:ext cx="20116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271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COMPLEXE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234440"/>
            <a:ext cx="164592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2710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BRUITÉ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34440"/>
            <a:ext cx="3200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12710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Moyenne globale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81912"/>
            <a:ext cx="292608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6184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faithfulness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581912"/>
            <a:ext cx="18288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1618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0.433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581912"/>
            <a:ext cx="201168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618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0.650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1581912"/>
            <a:ext cx="164592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6184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0.717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1581912"/>
            <a:ext cx="3200400" cy="34747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16184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0A"/>
                </a:solidFill>
              </a:rPr>
              <a:t>0.577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9384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65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context_recall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929384"/>
            <a:ext cx="18288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0.100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1929384"/>
            <a:ext cx="2011680" cy="347472"/>
          </a:xfrm>
          <a:prstGeom prst="rect">
            <a:avLst/>
          </a:prstGeom>
          <a:solidFill>
            <a:srgbClr val="FA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0.000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1929384"/>
            <a:ext cx="164592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1965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0.400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1929384"/>
            <a:ext cx="3200400" cy="347472"/>
          </a:xfrm>
          <a:prstGeom prst="rect">
            <a:avLst/>
          </a:prstGeom>
          <a:solidFill>
            <a:srgbClr val="FA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0.120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276856"/>
            <a:ext cx="292608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3134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context_precision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2276856"/>
            <a:ext cx="18288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0.195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2276856"/>
            <a:ext cx="2011680" cy="347472"/>
          </a:xfrm>
          <a:prstGeom prst="rect">
            <a:avLst/>
          </a:prstGeom>
          <a:solidFill>
            <a:srgbClr val="FA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2313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0.000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2276856"/>
            <a:ext cx="164592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0.267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2276856"/>
            <a:ext cx="3200400" cy="347472"/>
          </a:xfrm>
          <a:prstGeom prst="rect">
            <a:avLst/>
          </a:prstGeom>
          <a:solidFill>
            <a:srgbClr val="FA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252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0.131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2880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</a:rPr>
              <a:t>Analyse des résultats 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337560"/>
            <a:ext cx="3749039" cy="269748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79" y="3383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⚠  faithfulness = 0.577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79" y="38404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Acceptable — le LLM se base sur le contexte fourni. Mais un score &lt; 0.6 signifie que ~40% des réponses contiennent des éléments non ancrés dans les données.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59" y="3337560"/>
            <a:ext cx="3749039" cy="2697480"/>
          </a:xfrm>
          <a:prstGeom prst="rect">
            <a:avLst/>
          </a:prstGeom>
          <a:solidFill>
            <a:srgbClr val="FA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3383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✗  context_recall COMPLEXE = 0.000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38404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Attendu et explicable — FAISS retrouve des chunks de dictionnaire Excel, pas des valeurs agrégées. La question « Top 5 scoreurs » n'a pas de réponse directe dans les chunks textuels.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337560"/>
            <a:ext cx="3749039" cy="2697480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60" y="3383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→  Conclusion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8404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RAG seul ne suffit pas pour les questions statistiques. La baseline confirme le besoin du pipeline SQL.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Résultats après enrichissement SQL — Pipeline hybride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RAG seul  →  SQL + RAG  :  impact de l'intégration Text-to-SQL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710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Métrique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34440"/>
            <a:ext cx="20116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1271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RAG seul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34440"/>
            <a:ext cx="20116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271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SQL +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234440"/>
            <a:ext cx="210312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27101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Δ absolu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34440"/>
            <a:ext cx="27432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2710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Δ relatif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81912"/>
            <a:ext cx="27432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618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faithfulness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581912"/>
            <a:ext cx="201168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39" y="1618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0.577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581912"/>
            <a:ext cx="201168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618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0.704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1581912"/>
            <a:ext cx="210312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61848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↑ +0.128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581912"/>
            <a:ext cx="274320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1618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+ 22 %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9384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context_recall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29384"/>
            <a:ext cx="2011680" cy="347472"/>
          </a:xfrm>
          <a:prstGeom prst="rect">
            <a:avLst/>
          </a:prstGeom>
          <a:solidFill>
            <a:srgbClr val="FA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39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0.120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1929384"/>
            <a:ext cx="201168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0.797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1929384"/>
            <a:ext cx="210312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196596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↑ +0.677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929384"/>
            <a:ext cx="274320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+ 564 %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276856"/>
            <a:ext cx="27432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3134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context_precision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2276856"/>
            <a:ext cx="2011680" cy="347472"/>
          </a:xfrm>
          <a:prstGeom prst="rect">
            <a:avLst/>
          </a:prstGeom>
          <a:solidFill>
            <a:srgbClr val="FA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39" y="2313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0.131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2276856"/>
            <a:ext cx="201168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2313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0.826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2276856"/>
            <a:ext cx="210312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2313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↑ +0.695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2276856"/>
            <a:ext cx="274320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23134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+ 529 %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291840"/>
            <a:ext cx="22860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284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Catégorie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291840"/>
            <a:ext cx="27432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284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context_recall RAG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3291840"/>
            <a:ext cx="3200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49240" y="33284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context_recall SQL+RAG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291840"/>
            <a:ext cx="33832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9640" y="33284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Évolution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639312"/>
            <a:ext cx="22860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67588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SIMPLE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0" y="3639312"/>
            <a:ext cx="27432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675887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3639312"/>
            <a:ext cx="320040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9240" y="367588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1.000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3639312"/>
            <a:ext cx="338328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49640" y="36758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↑ +900 %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986784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023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COMPLEXE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0" y="3986784"/>
            <a:ext cx="2743200" cy="347472"/>
          </a:xfrm>
          <a:prstGeom prst="rect">
            <a:avLst/>
          </a:prstGeom>
          <a:solidFill>
            <a:srgbClr val="FA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023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0.000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0" y="3986784"/>
            <a:ext cx="320040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4924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0.759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20" y="3986784"/>
            <a:ext cx="3383280" cy="347472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49640" y="4023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↑ de 0 à 0.76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334256"/>
            <a:ext cx="22860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43708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BRUITÉ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0" y="4334256"/>
            <a:ext cx="27432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43708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0.400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03520" y="4334256"/>
            <a:ext cx="320040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49240" y="4370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0.500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4334256"/>
            <a:ext cx="3383280" cy="3474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49640" y="4370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↑ + 25 %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074920"/>
            <a:ext cx="11612880" cy="1097280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5074920"/>
            <a:ext cx="91440" cy="10972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51206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Résultat clé : context_recall +564 % · context_precision +529 %
Le pipeline SQL transforme radicalement les performances sur les questions statistiques.
La limite principale reste les questions BRUITÉES hors-champ (données de saison uniquement).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Structure du dépôt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Arborescence complète du projet P10_DSML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DDFF"/>
                </a:solidFill>
              </a:rPr>
              <a:t>P10_DSML/
│
├── api.py
├── MistralChat.py
├── indexer.py
├── rapport_comparatif.py
│
├── utils/
│   ├── config.py
│   ├── vector_store.py
│   ├── sql_tool.py
│   ├── load_excel_to_db.py
│   ├── evaluate_ragas.py
│   └── questions.py
│
├── inputs/
├── vector_db/
├── database/
└── outputs/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43000"/>
            <a:ext cx="6035040" cy="5212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603504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1612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Description des fichiers clés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002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api.py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API REST FastAPI — 5 endpoints, lifespan, Swagger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E75B6"/>
                </a:solidFill>
              </a:rPr>
              <a:t>MistralChat.py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Interface Streamlit — routeur LLM hybride SQL/RAG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E75B6"/>
                </a:solidFill>
              </a:rPr>
              <a:t>utils/evaluate_ragas.py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Évaluation RAGAS — Pydantic + Pydantic AI + Logfire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E75B6"/>
                </a:solidFill>
              </a:rPr>
              <a:t>utils/sql_tool.py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Text-to-SQL few-shot — 8 patterns, exécution SQLite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E75B6"/>
                </a:solidFill>
              </a:rPr>
              <a:t>utils/load_excel_to_db.py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Ingestion Excel → SQLite avec validation Pydantic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E75B6"/>
                </a:solidFill>
              </a:rPr>
              <a:t>utils/vector_store.py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VectorStoreManager — FAISS, embeddings, recherche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E75B6"/>
                </a:solidFill>
              </a:rPr>
              <a:t>utils/questions.py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26 questions test (SIMPLE / COMPLEXE / BRUITÉ)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177E89"/>
                </a:solidFill>
              </a:rPr>
              <a:t>outputs/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ragas_results.json · ragas_results_hybrid.json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rapport_comparatif.png · Rapport_Technique.docx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[Sarah] Que signifient ces scores pour votre équipe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Discussion — Interprétation métier des résultats RAGAS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Backup — Discussion avec Sarah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749039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faithfulness
0.704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E75B6"/>
                </a:solidFill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de confiance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356616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1546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Sur 10 réponses, 7 sont entièrement fondées sur les données réelles. Le système n'invente pas de statistiques.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17720"/>
            <a:ext cx="356616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360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Action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10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Surveiller en priorité. Seuil recommandé : &gt; 0.65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188720"/>
            <a:ext cx="3749039" cy="4572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399" y="12070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context_recall
0.797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79" y="182880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77E89"/>
                </a:solidFill>
              </a:rP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de confiance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399" y="3017520"/>
            <a:ext cx="3566160" cy="36576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1546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Sur 10 questions, le système retrouve les bons éléments pour 8 d'entre elles. Avant SQL : seulement 1 sur 10 était bien couverte.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4617720"/>
            <a:ext cx="356616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6360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7E89"/>
                </a:solidFill>
              </a:rPr>
              <a:t>Action 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910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Indique la qualité du retrieval. Surveiller si on change le corpus.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1887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188720"/>
            <a:ext cx="3749039" cy="457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2070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context_precision
0.826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182880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8B4C"/>
                </a:solidFill>
              </a:rPr>
              <a:t>83%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de confiance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017520"/>
            <a:ext cx="3566160" cy="3657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1546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83% des documents retournés sont vraiment pertinents. Le système ne noie pas l'utilisateur dans du bruit.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4617720"/>
            <a:ext cx="3566160" cy="685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46360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Action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910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Diminue si on augmente k (trop de documents retournés).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[Sarah] Robustesse &amp; limites du système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Sensibilité à un changement de corpus ou de modèle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Backup — Discussion avec Sarah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212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48640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61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Ce qui est robuste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Changement de corpus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Nouvel Excel (nouvelle saison NBA) :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relancer load_excel_to_db.py  (~5 min)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Nouveaux PDFs Reddit :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relancer indexer.py  (~15 min)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Le schéma SQL et les few-shot s'adaptent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1B3A6B"/>
                </a:solidFill>
              </a:rPr>
              <a:t>Changement de modèle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mistral-small → mistral-medium :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changer MODEL_NAME dans config.py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Les prompts sont modèle-agnostiques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Le routeur fonctionne avec n'importe quel LLM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1B3A6B"/>
                </a:solidFill>
              </a:rPr>
              <a:t>Questions bruitées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Le routeur tolère les fautes d'orthographe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Fallback RAG si le routeur est incertain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760720" cy="36576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612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Limites identifiées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Données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Totaux/moyennes saison uniquement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→ impossible de répondre « sur les 5 derniers matchs »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Données Reddit : discussions 2024-2025 uniquement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1B3A6B"/>
                </a:solidFill>
              </a:rPr>
              <a:t>Routage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Questions mixtes (stats + analyse) :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le routeur choisit une seule source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→ pas de réponse hybride en une passe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SQL retournant 0 résultats → contexte vide :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le LLM peut halluciner si non géré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1B3A6B"/>
                </a:solidFill>
              </a:rPr>
              <a:t>Évaluation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RAGAS utilise Mistral pour évaluer Mistral :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biais potentiel (LLM-as-judge auto-évaluation)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context_recall SQL : résultat tabulaire formaté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vs ground_truth en phrase naturelle</a:t>
            </a:r>
          </a:p>
          <a:p>
            <a:pPr algn="l"/>
            <a:r>
              <a:rPr sz="1100" b="0">
                <a:solidFill>
                  <a:srgbClr val="707070"/>
                </a:solidFill>
              </a:rPr>
              <a:t>   → sous-estimation possible du score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[Sarah] Justification des choix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Pourquoi FAISS ? Pourquoi ces métriques et pas d'autres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Backup — Discussion avec Sarah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2514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070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FAISS vs ChromaDB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</a:rPr>
              <a:t>FAISS (retenu) :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En mémoire — aucune infrastructure additionnelle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Ultra-rapide pour 302 vecteurs (&lt; 1 ms)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IndexFlatIP = cosinus exact sur vecteurs normalisés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E75B6"/>
                </a:solidFill>
              </a:rPr>
              <a:t>ChromaDB (alternatif) :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•  Persistant, API plus riche, filtre métadonnées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Surdimensionné pour ce volume de données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→ FAISS choisi pour la simplicité et la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577840" cy="2514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577840" cy="36576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2070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Few-shot vs Fine-tuning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60020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77E89"/>
                </a:solidFill>
              </a:rPr>
              <a:t>Few-shot (retenu) :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0 coût d'entraînement, déploiement immédiat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8 exemples couvrent les patterns NBA récurrents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Facilement extensible (ajouter un exemple)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77E89"/>
                </a:solidFill>
              </a:rPr>
              <a:t>Fine-tuning (alternatif) :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•  Nécessite des milliers de paires question/SQL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Coût GPU + temps — hors scope P10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→ Few-shot suffisant pour le domaine NBA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577840" cy="2514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5577840" cy="36576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50207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faithfulness + recall + precision
 vs answer_relevancy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4340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0A"/>
                </a:solidFill>
              </a:rPr>
              <a:t>Métriques retenues :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faithfulness  → priorité anti-hallucination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context_recall → qualité retrieval mesurable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context_precision → bruit dans le top-K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E86A0A"/>
                </a:solidFill>
              </a:rPr>
              <a:t>answer_relevancy (non retenu) :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Mesure si la réponse répond à la question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Nécessite un modèle juge plus puissant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→  3 métriques suffisent pour diagnostiquer le système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577840" cy="2514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577840" cy="365760"/>
          </a:xfrm>
          <a:prstGeom prst="rect">
            <a:avLst/>
          </a:prstGeom>
          <a:solidFill>
            <a:srgbClr val="6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950207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Mistral vs OpenAI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434340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3090"/>
                </a:solidFill>
              </a:rPr>
              <a:t>Mistral (retenu) :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API française, hébergement EU, RGPD facilité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mistral-embed natif → cohérence embed/génération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mistral-small : bon rapport qualité/coût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max_tokens=5 pour le routeur = très économique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603090"/>
                </a:solidFill>
              </a:rPr>
              <a:t>OpenAI (alternatif) :</a:t>
            </a:r>
          </a:p>
          <a:p>
            <a:pPr algn="l"/>
            <a:r>
              <a:rPr sz="1000" b="0">
                <a:solidFill>
                  <a:srgbClr val="707070"/>
                </a:solidFill>
              </a:rPr>
              <a:t>•  API plus mature, modèles plus puissants</a:t>
            </a:r>
          </a:p>
          <a:p>
            <a:pPr algn="l"/>
            <a:r>
              <a:rPr sz="1000" b="0">
                <a:solidFill>
                  <a:srgbClr val="1A1A2E"/>
                </a:solidFill>
              </a:rPr>
              <a:t>•  Coût plus élevé, données hors 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[Sarah] Monitoring dans le temps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Comment intégrer ce suivi dans nos rituels d'équipe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Backup — Discussion avec Sarah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2286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486400" cy="365760"/>
          </a:xfrm>
          <a:prstGeom prst="rect">
            <a:avLst/>
          </a:prstGeom>
          <a:solidFill>
            <a:srgbClr val="6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61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Logfire — Observabilité temps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 Dashboard web : latences P50/P95, taux d'erreur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Trace chaque appel LLM avec durée et paramètres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Alertes configurables (latence &gt; 5 s → notification)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logfire.span('run_rag') → visibilité pas-à-pas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760720" cy="2286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7607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612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Évaluation RAGAS périodique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 Relancer evaluate_ragas.py à chaque mise à jour corpus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Comparer avec la baseline via rapport_comparatif.py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Résultats JSON horodatés dans outputs/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GitHub Actions : évaluation automatique sur chaque 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66160"/>
            <a:ext cx="1161288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844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Rituels d'équipe recommandés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23360"/>
            <a:ext cx="28346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28346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41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Monthly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Comparer faithfulness du mois vs précédent.
Détecter les dérives du modèle.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4023360"/>
            <a:ext cx="28346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4023360"/>
            <a:ext cx="2834640" cy="36576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041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Gate de déploiement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48056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Avant tout déploiement en production :
faithfulness ≥ 0.65  ·  context_recall ≥ 0.70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023360"/>
            <a:ext cx="28346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023360"/>
            <a:ext cx="2834640" cy="36576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4041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Mise à jour corpus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48056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Après chaque nouvelle saison NBA :
ré-indexer FAISS + recalcul baseline RAGAS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4023360"/>
            <a:ext cx="28346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4023360"/>
            <a:ext cx="283464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4041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 hebdo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48056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Latence moyenne · taux d'erreur routeur
Nombre de questions SQL vs RAG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111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NBA Analyst AI — P10 DSML | Soutenance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94960" cy="5212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Réalisations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✓  Système hybride RAG + SQL opérationnel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✓  Routage intelligent LLM (SQL ou RAG en &lt; 1 s)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✓  Interface Streamlit + API REST FastAPI (5 endpoints)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✓  Évaluation RAGAS : Pydantic + Pydantic AI + Logfire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✓  context_recall : +564 % grâce au pipeline SQL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✓  context_precision : +529 % grâce au pipeline SQL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Points forts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Architecture modulaire — chaque composant est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remplaçable indépendamment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Validation Pydantic à chaque étape du flux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Observabilité complète avec Logfire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Documentation Swagger + README complet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5943600" cy="5212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143000"/>
            <a:ext cx="5943600" cy="36576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16128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Perspectives d'amélioration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002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Court terme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Données par match (granularité fine : G for G analysis)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Ajouter answer_relevancy dans RAGAS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Cache Redis pour les requêtes SQL fréquentes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Moyen terme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Mode hybride : SQL + RAG en parallèle</a:t>
            </a:r>
          </a:p>
          <a:p>
            <a:pPr algn="l"/>
            <a:r>
              <a:rPr sz="1200" b="0">
                <a:solidFill>
                  <a:srgbClr val="707070"/>
                </a:solidFill>
              </a:rPr>
              <a:t>   pour les questions mixtes (stats + analyse)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Re-ranking des résultats FAISS (cross-encoder)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Interface Logfire intégrée au monitoring ops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B3A6B"/>
                </a:solidFill>
              </a:rPr>
              <a:t>Long terme :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Fine-tuning SQL sur un corpus NBA plus large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Données temps réel (API NBA officielle)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Génération de rapports automatiques hebdo</a:t>
            </a:r>
          </a:p>
          <a:p>
            <a:pPr algn="l"/>
            <a:r>
              <a:rPr sz="1200" b="0">
                <a:solidFill>
                  <a:srgbClr val="1A1A2E"/>
                </a:solidFill>
              </a:rPr>
              <a:t>•  Multi-saison avec comparaisons historiques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